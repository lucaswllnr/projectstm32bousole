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6"/>
  </p:normalViewPr>
  <p:slideViewPr>
    <p:cSldViewPr snapToGrid="0" snapToObjects="1">
      <p:cViewPr varScale="1">
        <p:scale>
          <a:sx n="105" d="100"/>
          <a:sy n="105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41376"/>
            <a:ext cx="12191695" cy="6858000"/>
          </a:xfrm>
          <a:prstGeom prst="rect">
            <a:avLst/>
          </a:prstGeom>
          <a:solidFill>
            <a:srgbClr val="08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ompas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097280"/>
            <a:ext cx="43891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E85D2F"/>
                </a:solidFill>
                <a:latin typeface="Calibri"/>
              </a:rPr>
              <a:t>PROJET S6  -  SYSTÈME EMBARQUÉ STM32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7315200" cy="86793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5400" b="1" i="0" dirty="0">
                <a:solidFill>
                  <a:srgbClr val="FFFFFF"/>
                </a:solidFill>
                <a:latin typeface="Calibri"/>
              </a:rPr>
              <a:t>Project</a:t>
            </a:r>
            <a:r>
              <a:rPr lang="fr-FR" sz="5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5400" b="1" i="0" dirty="0">
                <a:solidFill>
                  <a:srgbClr val="FFFFFF"/>
                </a:solidFill>
                <a:latin typeface="Calibri"/>
              </a:rPr>
              <a:t>STM32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68580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E8F0F9"/>
                </a:solidFill>
                <a:latin typeface="Calibri"/>
              </a:rPr>
              <a:t>Boussole numérique embarquée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6400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E8F0F9"/>
                </a:solidFill>
                <a:latin typeface="Calibri"/>
              </a:rPr>
              <a:t>Carte   ·   NUCLEO-L152RE / STM32L152RET6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6400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E8F0F9"/>
                </a:solidFill>
                <a:latin typeface="Calibri"/>
              </a:rPr>
              <a:t>Shield   ·   Yncrea2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6400800" cy="28315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 dirty="0">
                <a:solidFill>
                  <a:srgbClr val="E8F0F9"/>
                </a:solidFill>
                <a:latin typeface="Calibri"/>
              </a:rPr>
              <a:t>Objectif   ·   </a:t>
            </a:r>
            <a:r>
              <a:rPr lang="fr-FR" sz="1600" b="0" i="0" dirty="0">
                <a:solidFill>
                  <a:srgbClr val="E8F0F9"/>
                </a:solidFill>
                <a:latin typeface="Calibri"/>
              </a:rPr>
              <a:t>Réaliser une boussole numérique simple et fiable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E85D2F"/>
                </a:solidFill>
                <a:latin typeface="Calibri"/>
              </a:rPr>
              <a:t>AUTEURS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263640"/>
            <a:ext cx="7315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Wallner Lucas   ·   Debayle Isaïe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4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11480"/>
            <a:ext cx="1005840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3000" b="1" i="0">
                <a:solidFill>
                  <a:srgbClr val="0E2A47"/>
                </a:solidFill>
                <a:latin typeface="Calibri"/>
              </a:rPr>
              <a:t>Présentation de l'application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078992"/>
            <a:ext cx="548640" cy="45720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9436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0" i="1">
                <a:solidFill>
                  <a:srgbClr val="1A2433"/>
                </a:solidFill>
                <a:latin typeface="Calibri"/>
              </a:rPr>
              <a:t>Une boussole numérique : transformer un champ magnétique en une direction lisible immédiatement, sur trois canaux complémentaires.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2834640" cy="1645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73152" cy="1645920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24688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E2A47"/>
                </a:solidFill>
                <a:latin typeface="Calibri"/>
              </a:rPr>
              <a:t>Afficheur 7-segments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2468880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A2433"/>
                </a:solidFill>
                <a:latin typeface="Calibri"/>
              </a:rPr>
              <a:t>Format N000 / E090 / S180 / W270 — lettre cardinale + angle 0–359°.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2331720"/>
            <a:ext cx="2834640" cy="1645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0" y="2331720"/>
            <a:ext cx="73152" cy="1645920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86200" y="2468880"/>
            <a:ext cx="24688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E2A47"/>
                </a:solidFill>
                <a:latin typeface="Calibri"/>
              </a:rPr>
              <a:t>Barre de LEDs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2926080"/>
            <a:ext cx="2468880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A2433"/>
                </a:solidFill>
                <a:latin typeface="Calibri"/>
              </a:rPr>
              <a:t>Indique le secteur de direction sur 8 zones de 45°.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51960"/>
            <a:ext cx="2834640" cy="1645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73152" cy="1645920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24688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E2A47"/>
                </a:solidFill>
                <a:latin typeface="Calibri"/>
              </a:rPr>
              <a:t>Buzzer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46320"/>
            <a:ext cx="2468880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A2433"/>
                </a:solidFill>
                <a:latin typeface="Calibri"/>
              </a:rPr>
              <a:t>Bipe quand on s'approche du nord — feedback sonore progressif.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4251960"/>
            <a:ext cx="2834640" cy="1645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0" y="4251960"/>
            <a:ext cx="73152" cy="1645920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86200" y="4389120"/>
            <a:ext cx="24688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E2A47"/>
                </a:solidFill>
                <a:latin typeface="Calibri"/>
              </a:rPr>
              <a:t>Bouton bleu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4846320"/>
            <a:ext cx="2468880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A2433"/>
                </a:solidFill>
                <a:latin typeface="Calibri"/>
              </a:rPr>
              <a:t>Affiche temporairement la valeur ADC du potentiomètre (Axxx).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371600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E85D2F"/>
                </a:solidFill>
                <a:latin typeface="Calibri"/>
              </a:rPr>
              <a:t>AFFICHAGES POSSIBLES</a:t>
            </a:r>
          </a:p>
        </p:txBody>
      </p:sp>
      <p:pic>
        <p:nvPicPr>
          <p:cNvPr id="26" name="Picture 25" descr="display_n0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2194560" cy="7315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81160" y="1947672"/>
            <a:ext cx="2743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A2433"/>
                </a:solidFill>
                <a:latin typeface="Calibri"/>
              </a:rPr>
              <a:t>Cap — direction et angle</a:t>
            </a:r>
          </a:p>
        </p:txBody>
      </p:sp>
      <p:pic>
        <p:nvPicPr>
          <p:cNvPr id="28" name="Picture 27" descr="display_ti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2697480"/>
            <a:ext cx="2194560" cy="731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281160" y="2862072"/>
            <a:ext cx="2743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A2433"/>
                </a:solidFill>
                <a:latin typeface="Calibri"/>
              </a:rPr>
              <a:t>TILT — carte trop inclinée</a:t>
            </a:r>
          </a:p>
        </p:txBody>
      </p:sp>
      <p:pic>
        <p:nvPicPr>
          <p:cNvPr id="30" name="Picture 29" descr="display_er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3611880"/>
            <a:ext cx="2194560" cy="7315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81160" y="3776472"/>
            <a:ext cx="2743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A2433"/>
                </a:solidFill>
                <a:latin typeface="Calibri"/>
              </a:rPr>
              <a:t>ERR — capteur indisponible</a:t>
            </a:r>
          </a:p>
        </p:txBody>
      </p:sp>
      <p:pic>
        <p:nvPicPr>
          <p:cNvPr id="32" name="Picture 31" descr="display_a49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4526280"/>
            <a:ext cx="2194560" cy="7315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281160" y="4690872"/>
            <a:ext cx="2743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A2433"/>
                </a:solidFill>
                <a:latin typeface="Calibri"/>
              </a:rPr>
              <a:t>Axxx — valeur ADC (bouton)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1">
                <a:solidFill>
                  <a:srgbClr val="5A6B7E"/>
                </a:solidFill>
                <a:latin typeface="Calibri"/>
              </a:rPr>
              <a:t>ProjectSTM32Bousole  |  S6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87079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4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11480"/>
            <a:ext cx="1005840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3000" b="1" i="0">
                <a:solidFill>
                  <a:srgbClr val="0E2A47"/>
                </a:solidFill>
                <a:latin typeface="Calibri"/>
              </a:rPr>
              <a:t>Solution technique argumentée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078992"/>
            <a:ext cx="548640" cy="45720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E85D2F"/>
                </a:solidFill>
                <a:latin typeface="Calibri"/>
              </a:rPr>
              <a:t>COMPOSANTS DU SHIELD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713232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73152" cy="713232"/>
          </a:xfrm>
          <a:prstGeom prst="rect">
            <a:avLst/>
          </a:prstGeom>
          <a:solidFill>
            <a:srgbClr val="1E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847088"/>
            <a:ext cx="1828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0E2A47"/>
                </a:solidFill>
                <a:latin typeface="Calibri"/>
              </a:rPr>
              <a:t>LIS2MDL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40233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A2433"/>
                </a:solidFill>
                <a:latin typeface="Calibri"/>
              </a:rPr>
              <a:t>Magnétomètre 3 axes — mesure du champ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984248"/>
            <a:ext cx="1417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1E5B8C"/>
                </a:solidFill>
                <a:latin typeface="Calibri"/>
              </a:rPr>
              <a:t>I²C  0x1E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06040"/>
            <a:ext cx="5486400" cy="713232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2606040"/>
            <a:ext cx="73152" cy="713232"/>
          </a:xfrm>
          <a:prstGeom prst="rect">
            <a:avLst/>
          </a:prstGeom>
          <a:solidFill>
            <a:srgbClr val="1E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2670048"/>
            <a:ext cx="1828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0E2A47"/>
                </a:solidFill>
                <a:latin typeface="Calibri"/>
              </a:rPr>
              <a:t>LIS2DW12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971800"/>
            <a:ext cx="40233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A2433"/>
                </a:solidFill>
                <a:latin typeface="Calibri"/>
              </a:rPr>
              <a:t>Accéléromètre 3 axes — détection inclinaison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807208"/>
            <a:ext cx="1417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1E5B8C"/>
                </a:solidFill>
                <a:latin typeface="Calibri"/>
              </a:rPr>
              <a:t>I²C  0x19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29000"/>
            <a:ext cx="5486400" cy="713232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3429000"/>
            <a:ext cx="73152" cy="713232"/>
          </a:xfrm>
          <a:prstGeom prst="rect">
            <a:avLst/>
          </a:prstGeom>
          <a:solidFill>
            <a:srgbClr val="1E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3493008"/>
            <a:ext cx="1828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0E2A47"/>
                </a:solidFill>
                <a:latin typeface="Calibri"/>
              </a:rPr>
              <a:t>MAX7219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794760"/>
            <a:ext cx="40233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A2433"/>
                </a:solidFill>
                <a:latin typeface="Calibri"/>
              </a:rPr>
              <a:t>Driver afficheur 7-segments 4 digits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630168"/>
            <a:ext cx="1417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1E5B8C"/>
                </a:solidFill>
                <a:latin typeface="Calibri"/>
              </a:rPr>
              <a:t>SPI logiciel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51960"/>
            <a:ext cx="5486400" cy="713232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8640" y="4251960"/>
            <a:ext cx="73152" cy="713232"/>
          </a:xfrm>
          <a:prstGeom prst="rect">
            <a:avLst/>
          </a:prstGeom>
          <a:solidFill>
            <a:srgbClr val="1E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4315968"/>
            <a:ext cx="1828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0E2A47"/>
                </a:solidFill>
                <a:latin typeface="Calibri"/>
              </a:rPr>
              <a:t>8 LEDs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617720"/>
            <a:ext cx="40233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A2433"/>
                </a:solidFill>
                <a:latin typeface="Calibri"/>
              </a:rPr>
              <a:t>Barre — secteur de direction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4453128"/>
            <a:ext cx="1417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1E5B8C"/>
                </a:solidFill>
                <a:latin typeface="Calibri"/>
              </a:rPr>
              <a:t>GPIO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074920"/>
            <a:ext cx="5486400" cy="713232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8640" y="5074920"/>
            <a:ext cx="73152" cy="713232"/>
          </a:xfrm>
          <a:prstGeom prst="rect">
            <a:avLst/>
          </a:prstGeom>
          <a:solidFill>
            <a:srgbClr val="1E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138928"/>
            <a:ext cx="1828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0E2A47"/>
                </a:solidFill>
                <a:latin typeface="Calibri"/>
              </a:rPr>
              <a:t>Buzzer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440680"/>
            <a:ext cx="40233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A2433"/>
                </a:solidFill>
                <a:latin typeface="Calibri"/>
              </a:rPr>
              <a:t>Onde carrée par basculement GPIO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5276088"/>
            <a:ext cx="1417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1E5B8C"/>
                </a:solidFill>
                <a:latin typeface="Calibri"/>
              </a:rPr>
              <a:t>GPIO PC7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137160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E85D2F"/>
                </a:solidFill>
                <a:latin typeface="Calibri"/>
              </a:rPr>
              <a:t>PÉRIPHÉRIQUES DU STM32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1783080"/>
            <a:ext cx="5486400" cy="713232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00800" y="1783080"/>
            <a:ext cx="73152" cy="713232"/>
          </a:xfrm>
          <a:prstGeom prst="rect">
            <a:avLst/>
          </a:prstGeom>
          <a:solidFill>
            <a:srgbClr val="2A9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29400" y="1847088"/>
            <a:ext cx="1828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 dirty="0">
                <a:solidFill>
                  <a:srgbClr val="0E2A47"/>
                </a:solidFill>
                <a:latin typeface="Calibri"/>
              </a:rPr>
              <a:t>TIM6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2148840"/>
            <a:ext cx="40233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 dirty="0">
                <a:solidFill>
                  <a:srgbClr val="1A2433"/>
                </a:solidFill>
                <a:latin typeface="Calibri"/>
              </a:rPr>
              <a:t>Cadence </a:t>
            </a:r>
            <a:r>
              <a:rPr sz="1100" b="0" i="0" dirty="0" err="1">
                <a:solidFill>
                  <a:srgbClr val="1A2433"/>
                </a:solidFill>
                <a:latin typeface="Calibri"/>
              </a:rPr>
              <a:t>périodique</a:t>
            </a:r>
            <a:r>
              <a:rPr sz="1100" b="0" i="0" dirty="0">
                <a:solidFill>
                  <a:srgbClr val="1A2433"/>
                </a:solidFill>
                <a:latin typeface="Calibri"/>
              </a:rPr>
              <a:t>  →  lecture ADC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1984248"/>
            <a:ext cx="1417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2A9DB4"/>
                </a:solidFill>
                <a:latin typeface="Calibri"/>
              </a:rPr>
              <a:t>IRQ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2606040"/>
            <a:ext cx="5486400" cy="713232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400800" y="2606040"/>
            <a:ext cx="73152" cy="713232"/>
          </a:xfrm>
          <a:prstGeom prst="rect">
            <a:avLst/>
          </a:prstGeom>
          <a:solidFill>
            <a:srgbClr val="2A9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629400" y="2670048"/>
            <a:ext cx="1828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0E2A47"/>
                </a:solidFill>
                <a:latin typeface="Calibri"/>
              </a:rPr>
              <a:t>EXTI15_10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29400" y="2971800"/>
            <a:ext cx="40233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A2433"/>
                </a:solidFill>
                <a:latin typeface="Calibri"/>
              </a:rPr>
              <a:t>Bouton bleu PC13  +  anti-rebond 200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60" y="2807208"/>
            <a:ext cx="1417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2A9DB4"/>
                </a:solidFill>
                <a:latin typeface="Calibri"/>
              </a:rPr>
              <a:t>IRQ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0" y="3429000"/>
            <a:ext cx="5486400" cy="713232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400800" y="3429000"/>
            <a:ext cx="73152" cy="713232"/>
          </a:xfrm>
          <a:prstGeom prst="rect">
            <a:avLst/>
          </a:prstGeom>
          <a:solidFill>
            <a:srgbClr val="2A9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29400" y="3493008"/>
            <a:ext cx="1828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0E2A47"/>
                </a:solidFill>
                <a:latin typeface="Calibri"/>
              </a:rPr>
              <a:t>ADC1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3794760"/>
            <a:ext cx="40233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A2433"/>
                </a:solidFill>
                <a:latin typeface="Calibri"/>
              </a:rPr>
              <a:t>PA0 — potentiomètre (canal 0, 12 bits)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0" y="3630168"/>
            <a:ext cx="1417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2A9DB4"/>
                </a:solidFill>
                <a:latin typeface="Calibri"/>
              </a:rPr>
              <a:t>REG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00800" y="4251960"/>
            <a:ext cx="5486400" cy="713232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400800" y="4251960"/>
            <a:ext cx="73152" cy="713232"/>
          </a:xfrm>
          <a:prstGeom prst="rect">
            <a:avLst/>
          </a:prstGeom>
          <a:solidFill>
            <a:srgbClr val="2A9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629400" y="4315968"/>
            <a:ext cx="1828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0E2A47"/>
                </a:solidFill>
                <a:latin typeface="Calibri"/>
              </a:rPr>
              <a:t>USART2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29400" y="4617720"/>
            <a:ext cx="40233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A2433"/>
                </a:solidFill>
                <a:latin typeface="Calibri"/>
              </a:rPr>
              <a:t>Trace printf 115 200 bauds vers ST-LINK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453128"/>
            <a:ext cx="1417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2A9DB4"/>
                </a:solidFill>
                <a:latin typeface="Calibri"/>
              </a:rPr>
              <a:t>HAL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00800" y="5074920"/>
            <a:ext cx="5486400" cy="713232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400800" y="5074920"/>
            <a:ext cx="73152" cy="713232"/>
          </a:xfrm>
          <a:prstGeom prst="rect">
            <a:avLst/>
          </a:prstGeom>
          <a:solidFill>
            <a:srgbClr val="2A9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629400" y="5138928"/>
            <a:ext cx="1828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0E2A47"/>
                </a:solidFill>
                <a:latin typeface="Calibri"/>
              </a:rPr>
              <a:t>GPIO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29400" y="5440680"/>
            <a:ext cx="40233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A2433"/>
                </a:solidFill>
                <a:latin typeface="Calibri"/>
              </a:rPr>
              <a:t>LEDs, buzzer, bus logiciels I²C et SPI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24160" y="5276088"/>
            <a:ext cx="1417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2A9DB4"/>
                </a:solidFill>
                <a:latin typeface="Calibri"/>
              </a:rPr>
              <a:t>HAL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5989320"/>
            <a:ext cx="11091672" cy="502920"/>
          </a:xfrm>
          <a:prstGeom prst="roundRect">
            <a:avLst>
              <a:gd name="adj" fmla="val 2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77240" y="5989320"/>
            <a:ext cx="105156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  <a:latin typeface="Calibri"/>
              </a:rPr>
              <a:t>Compass_UserHeading()  —  aligne la lettre, les degrés, les LEDs et le bip avec le segment bleu pour une lecture cohérente.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1">
                <a:solidFill>
                  <a:srgbClr val="5A6B7E"/>
                </a:solidFill>
                <a:latin typeface="Calibri"/>
              </a:rPr>
              <a:t>ProjectSTM32Bousole  |  S6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4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11480"/>
            <a:ext cx="1005840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3000" b="1" i="0">
                <a:solidFill>
                  <a:srgbClr val="0E2A47"/>
                </a:solidFill>
                <a:latin typeface="Calibri"/>
              </a:rPr>
              <a:t>Défi &amp; problématique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078992"/>
            <a:ext cx="548640" cy="45720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000"/>
            </a:avLst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579054"/>
            <a:ext cx="10515600" cy="59093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800" b="1" i="1" dirty="0">
                <a:solidFill>
                  <a:srgbClr val="0E2A47"/>
                </a:solidFill>
                <a:latin typeface="Calibri"/>
              </a:rPr>
              <a:t>Comment </a:t>
            </a:r>
            <a:r>
              <a:rPr sz="1800" b="1" i="1" dirty="0" err="1">
                <a:solidFill>
                  <a:srgbClr val="0E2A47"/>
                </a:solidFill>
                <a:latin typeface="Calibri"/>
              </a:rPr>
              <a:t>fournir</a:t>
            </a:r>
            <a:r>
              <a:rPr sz="1800" b="1" i="1" dirty="0">
                <a:solidFill>
                  <a:srgbClr val="0E2A47"/>
                </a:solidFill>
                <a:latin typeface="Calibri"/>
              </a:rPr>
              <a:t> un cap </a:t>
            </a:r>
            <a:r>
              <a:rPr sz="1800" b="1" i="1" dirty="0" err="1">
                <a:solidFill>
                  <a:srgbClr val="0E2A47"/>
                </a:solidFill>
                <a:latin typeface="Calibri"/>
              </a:rPr>
              <a:t>fiable</a:t>
            </a:r>
            <a:r>
              <a:rPr sz="1800" b="1" i="1" dirty="0">
                <a:solidFill>
                  <a:srgbClr val="0E2A47"/>
                </a:solidFill>
                <a:latin typeface="Calibri"/>
              </a:rPr>
              <a:t>, </a:t>
            </a:r>
            <a:r>
              <a:rPr sz="1800" b="1" i="1" dirty="0" err="1">
                <a:solidFill>
                  <a:srgbClr val="0E2A47"/>
                </a:solidFill>
                <a:latin typeface="Calibri"/>
              </a:rPr>
              <a:t>lisible</a:t>
            </a:r>
            <a:r>
              <a:rPr sz="1800" b="1" i="1" dirty="0">
                <a:solidFill>
                  <a:srgbClr val="0E2A47"/>
                </a:solidFill>
                <a:latin typeface="Calibri"/>
              </a:rPr>
              <a:t> et </a:t>
            </a:r>
            <a:r>
              <a:rPr sz="1800" b="1" i="1" dirty="0" err="1">
                <a:solidFill>
                  <a:srgbClr val="0E2A47"/>
                </a:solidFill>
                <a:latin typeface="Calibri"/>
              </a:rPr>
              <a:t>réactif</a:t>
            </a:r>
            <a:r>
              <a:rPr sz="1800" b="1" i="1">
                <a:solidFill>
                  <a:srgbClr val="0E2A47"/>
                </a:solidFill>
                <a:latin typeface="Calibri"/>
              </a:rPr>
              <a:t> à </a:t>
            </a:r>
            <a:r>
              <a:rPr sz="1800" b="1" i="1" dirty="0">
                <a:solidFill>
                  <a:srgbClr val="0E2A47"/>
                </a:solidFill>
                <a:latin typeface="Calibri"/>
              </a:rPr>
              <a:t>32 MHz, sans FPU, avec des </a:t>
            </a:r>
            <a:r>
              <a:rPr sz="1800" b="1" i="1" dirty="0" err="1">
                <a:solidFill>
                  <a:srgbClr val="0E2A47"/>
                </a:solidFill>
                <a:latin typeface="Calibri"/>
              </a:rPr>
              <a:t>capteurs</a:t>
            </a:r>
            <a:r>
              <a:rPr sz="1800" b="1" i="1" dirty="0">
                <a:solidFill>
                  <a:srgbClr val="0E2A47"/>
                </a:solidFill>
                <a:latin typeface="Calibri"/>
              </a:rPr>
              <a:t> MEMS et </a:t>
            </a:r>
            <a:r>
              <a:rPr sz="1800" b="1" i="1" dirty="0" err="1">
                <a:solidFill>
                  <a:srgbClr val="0E2A47"/>
                </a:solidFill>
                <a:latin typeface="Calibri"/>
              </a:rPr>
              <a:t>toutes</a:t>
            </a:r>
            <a:r>
              <a:rPr sz="1800" b="1" i="1" dirty="0">
                <a:solidFill>
                  <a:srgbClr val="0E2A47"/>
                </a:solidFill>
                <a:latin typeface="Calibri"/>
              </a:rPr>
              <a:t> les </a:t>
            </a:r>
            <a:r>
              <a:rPr sz="1800" b="1" i="1" dirty="0" err="1">
                <a:solidFill>
                  <a:srgbClr val="0E2A47"/>
                </a:solidFill>
                <a:latin typeface="Calibri"/>
              </a:rPr>
              <a:t>contraintes</a:t>
            </a:r>
            <a:r>
              <a:rPr sz="1800" b="1" i="1" dirty="0">
                <a:solidFill>
                  <a:srgbClr val="0E2A47"/>
                </a:solidFill>
                <a:latin typeface="Calibri"/>
              </a:rPr>
              <a:t> du </a:t>
            </a:r>
            <a:r>
              <a:rPr sz="1800" b="1" i="1" dirty="0" err="1">
                <a:solidFill>
                  <a:srgbClr val="0E2A47"/>
                </a:solidFill>
                <a:latin typeface="Calibri"/>
              </a:rPr>
              <a:t>sujet</a:t>
            </a:r>
            <a:r>
              <a:rPr sz="1800" b="1" i="1" dirty="0">
                <a:solidFill>
                  <a:srgbClr val="0E2A47"/>
                </a:solidFill>
                <a:latin typeface="Calibri"/>
              </a:rPr>
              <a:t>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9748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3657600" cy="73152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990088"/>
            <a:ext cx="256032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 i="0">
                <a:solidFill>
                  <a:srgbClr val="0E2A47"/>
                </a:solidFill>
                <a:latin typeface="Calibri"/>
              </a:rPr>
              <a:t>Mesure brute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3200400" cy="1188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1A2433"/>
                </a:solidFill>
                <a:latin typeface="Calibri"/>
              </a:rPr>
              <a:t>Le LIS2MDL renvoie des entiers signés sur 3 axes ; il faut un angle 0–359° clair.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269748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25112" y="2697480"/>
            <a:ext cx="3657600" cy="73152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553712" y="2971800"/>
            <a:ext cx="548640" cy="548640"/>
          </a:xfrm>
          <a:prstGeom prst="ellipse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53712" y="2971800"/>
            <a:ext cx="54864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2990088"/>
            <a:ext cx="256032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 i="0">
                <a:solidFill>
                  <a:srgbClr val="0E2A47"/>
                </a:solidFill>
                <a:latin typeface="Calibri"/>
              </a:rPr>
              <a:t>Orientation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3657600"/>
            <a:ext cx="3200400" cy="1188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1A2433"/>
                </a:solidFill>
                <a:latin typeface="Calibri"/>
              </a:rPr>
              <a:t>Capteur et afficheur ne pointent pas dans le même sens : double correction logicielle.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4" y="269748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01584" y="2697480"/>
            <a:ext cx="3657600" cy="73152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330184" y="2971800"/>
            <a:ext cx="548640" cy="548640"/>
          </a:xfrm>
          <a:prstGeom prst="ellipse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30184" y="2971800"/>
            <a:ext cx="54864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990088"/>
            <a:ext cx="256032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 i="0">
                <a:solidFill>
                  <a:srgbClr val="0E2A47"/>
                </a:solidFill>
                <a:latin typeface="Calibri"/>
              </a:rPr>
              <a:t>Fiabilité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5904" y="3657600"/>
            <a:ext cx="3200400" cy="1188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1A2433"/>
                </a:solidFill>
                <a:latin typeface="Calibri"/>
              </a:rPr>
              <a:t>Une boussole inclinée ment ; un capteur peut tomber en panne ; il faut gérer les deux.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E85D2F"/>
                </a:solidFill>
                <a:latin typeface="Calibri"/>
              </a:rPr>
              <a:t>CONTRAINTES À RESPECTER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532120"/>
            <a:ext cx="740664" cy="411480"/>
          </a:xfrm>
          <a:prstGeom prst="roundRect">
            <a:avLst>
              <a:gd name="adj" fmla="val 5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8640" y="5532120"/>
            <a:ext cx="740664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GPIO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26464" y="5532120"/>
            <a:ext cx="845820" cy="411480"/>
          </a:xfrm>
          <a:prstGeom prst="roundRect">
            <a:avLst>
              <a:gd name="adj" fmla="val 5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426464" y="5532120"/>
            <a:ext cx="84582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TIMER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09444" y="5532120"/>
            <a:ext cx="635508" cy="411480"/>
          </a:xfrm>
          <a:prstGeom prst="roundRect">
            <a:avLst>
              <a:gd name="adj" fmla="val 5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409444" y="5532120"/>
            <a:ext cx="635508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ADC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82112" y="5532120"/>
            <a:ext cx="740664" cy="411480"/>
          </a:xfrm>
          <a:prstGeom prst="roundRect">
            <a:avLst>
              <a:gd name="adj" fmla="val 5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182112" y="5532120"/>
            <a:ext cx="740664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UART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59936" y="5532120"/>
            <a:ext cx="1266444" cy="411480"/>
          </a:xfrm>
          <a:prstGeom prst="roundRect">
            <a:avLst>
              <a:gd name="adj" fmla="val 5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059936" y="5532120"/>
            <a:ext cx="1266444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SPI / I²C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63540" y="5532120"/>
            <a:ext cx="845820" cy="411480"/>
          </a:xfrm>
          <a:prstGeom prst="roundRect">
            <a:avLst>
              <a:gd name="adj" fmla="val 5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63540" y="5532120"/>
            <a:ext cx="84582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 IRQ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46520" y="553212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46520" y="5532120"/>
            <a:ext cx="13716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 capteurs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1">
                <a:solidFill>
                  <a:srgbClr val="5A6B7E"/>
                </a:solidFill>
                <a:latin typeface="Calibri"/>
              </a:rPr>
              <a:t>ProjectSTM32Bousole  |  S6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4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11480"/>
            <a:ext cx="1005840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3000" b="1" i="0">
                <a:solidFill>
                  <a:srgbClr val="0E2A47"/>
                </a:solidFill>
                <a:latin typeface="Calibri"/>
              </a:rPr>
              <a:t>Résolution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078992"/>
            <a:ext cx="548640" cy="45720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 dirty="0">
                <a:solidFill>
                  <a:srgbClr val="E85D2F"/>
                </a:solidFill>
                <a:latin typeface="Calibri"/>
              </a:rPr>
              <a:t>PIPELINE DE TRAITEMENT  ·  </a:t>
            </a:r>
            <a:r>
              <a:rPr sz="1200" b="1" i="0" dirty="0" err="1">
                <a:solidFill>
                  <a:srgbClr val="E85D2F"/>
                </a:solidFill>
                <a:latin typeface="Calibri"/>
              </a:rPr>
              <a:t>toutes</a:t>
            </a:r>
            <a:r>
              <a:rPr sz="1200" b="1" i="0" dirty="0">
                <a:solidFill>
                  <a:srgbClr val="E85D2F"/>
                </a:solidFill>
                <a:latin typeface="Calibri"/>
              </a:rPr>
              <a:t> les 150 </a:t>
            </a:r>
            <a:r>
              <a:rPr sz="1200" b="1" i="0" dirty="0" err="1">
                <a:solidFill>
                  <a:srgbClr val="E85D2F"/>
                </a:solidFill>
                <a:latin typeface="Calibri"/>
              </a:rPr>
              <a:t>ms</a:t>
            </a:r>
            <a:endParaRPr sz="1200" b="1" i="0" dirty="0">
              <a:solidFill>
                <a:srgbClr val="E85D2F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205740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2057400" cy="41148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828800"/>
            <a:ext cx="20574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31720"/>
            <a:ext cx="1874520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0" i="0">
                <a:solidFill>
                  <a:srgbClr val="1A2433"/>
                </a:solidFill>
                <a:latin typeface="Calibri"/>
              </a:rPr>
              <a:t>LIS2MDL</a:t>
            </a:r>
          </a:p>
          <a:p>
            <a:pPr algn="ctr"/>
            <a:r>
              <a:rPr sz="1200" b="0" i="0">
                <a:solidFill>
                  <a:srgbClr val="1A2433"/>
                </a:solidFill>
                <a:latin typeface="Calibri"/>
              </a:rPr>
              <a:t>Bx, By, Bz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10612" y="2446020"/>
            <a:ext cx="100584" cy="182880"/>
          </a:xfrm>
          <a:prstGeom prst="rightArrow">
            <a:avLst/>
          </a:prstGeom>
          <a:solidFill>
            <a:srgbClr val="E85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715768" y="1828800"/>
            <a:ext cx="205740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15768" y="1828800"/>
            <a:ext cx="2057400" cy="41148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15768" y="1828800"/>
            <a:ext cx="20574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CALCULER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7208" y="2331720"/>
            <a:ext cx="1874520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0" i="0">
                <a:solidFill>
                  <a:srgbClr val="1A2433"/>
                </a:solidFill>
                <a:latin typeface="Calibri"/>
              </a:rPr>
              <a:t>atan2 entier</a:t>
            </a:r>
          </a:p>
          <a:p>
            <a:pPr algn="ctr"/>
            <a:r>
              <a:rPr sz="1200" b="0" i="0">
                <a:solidFill>
                  <a:srgbClr val="1A2433"/>
                </a:solidFill>
                <a:latin typeface="Calibri"/>
              </a:rPr>
              <a:t>→ 0–359°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77740" y="2446020"/>
            <a:ext cx="100584" cy="182880"/>
          </a:xfrm>
          <a:prstGeom prst="rightArrow">
            <a:avLst/>
          </a:prstGeom>
          <a:solidFill>
            <a:srgbClr val="E85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882896" y="1828800"/>
            <a:ext cx="205740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82896" y="1828800"/>
            <a:ext cx="2057400" cy="41148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82896" y="1828800"/>
            <a:ext cx="20574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CORRIGER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4336" y="2331720"/>
            <a:ext cx="1874520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0" i="0">
                <a:solidFill>
                  <a:srgbClr val="1A2433"/>
                </a:solidFill>
                <a:latin typeface="Calibri"/>
              </a:rPr>
              <a:t>orientation</a:t>
            </a:r>
          </a:p>
          <a:p>
            <a:pPr algn="ctr"/>
            <a:r>
              <a:rPr sz="1200" b="0" i="0">
                <a:solidFill>
                  <a:srgbClr val="1A2433"/>
                </a:solidFill>
                <a:latin typeface="Calibri"/>
              </a:rPr>
              <a:t>+ user-heading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944868" y="2446020"/>
            <a:ext cx="100584" cy="182880"/>
          </a:xfrm>
          <a:prstGeom prst="rightArrow">
            <a:avLst/>
          </a:prstGeom>
          <a:solidFill>
            <a:srgbClr val="E85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050024" y="1828800"/>
            <a:ext cx="205740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050024" y="1828800"/>
            <a:ext cx="2057400" cy="41148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50024" y="1828800"/>
            <a:ext cx="20574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AFFICHER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1464" y="2331720"/>
            <a:ext cx="1874520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0" i="0">
                <a:solidFill>
                  <a:srgbClr val="1A2433"/>
                </a:solidFill>
                <a:latin typeface="Calibri"/>
              </a:rPr>
              <a:t>MAX7219</a:t>
            </a:r>
          </a:p>
          <a:p>
            <a:pPr algn="ctr"/>
            <a:r>
              <a:rPr sz="1200" b="0" i="0">
                <a:solidFill>
                  <a:srgbClr val="1A2433"/>
                </a:solidFill>
                <a:latin typeface="Calibri"/>
              </a:rPr>
              <a:t>LEDs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111996" y="2446020"/>
            <a:ext cx="100584" cy="182880"/>
          </a:xfrm>
          <a:prstGeom prst="rightArrow">
            <a:avLst/>
          </a:prstGeom>
          <a:solidFill>
            <a:srgbClr val="E85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217152" y="1828800"/>
            <a:ext cx="205740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217152" y="1828800"/>
            <a:ext cx="2057400" cy="41148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217152" y="1828800"/>
            <a:ext cx="20574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ALERTER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08592" y="2331720"/>
            <a:ext cx="1874520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0" i="0">
                <a:solidFill>
                  <a:srgbClr val="1A2433"/>
                </a:solidFill>
                <a:latin typeface="Calibri"/>
              </a:rPr>
              <a:t>Buzzer</a:t>
            </a:r>
          </a:p>
          <a:p>
            <a:pPr algn="ctr"/>
            <a:r>
              <a:rPr sz="1200" b="0" i="0">
                <a:solidFill>
                  <a:srgbClr val="1A2433"/>
                </a:solidFill>
                <a:latin typeface="Calibri"/>
              </a:rPr>
              <a:t>si nord proche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52044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E85D2F"/>
                </a:solidFill>
                <a:latin typeface="Calibri"/>
              </a:rPr>
              <a:t>CAS PARTICULIERS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931920"/>
            <a:ext cx="914400" cy="457200"/>
          </a:xfrm>
          <a:prstGeom prst="roundRect">
            <a:avLst>
              <a:gd name="adj" fmla="val 3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393192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TILT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0200" y="3931920"/>
            <a:ext cx="429768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300" b="0" i="0">
                <a:solidFill>
                  <a:srgbClr val="1A2433"/>
                </a:solidFill>
                <a:latin typeface="Calibri"/>
              </a:rPr>
              <a:t>|ax| ou |ay| &gt; seuil  →  mesure rejetée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914400" cy="457200"/>
          </a:xfrm>
          <a:prstGeom prst="roundRect">
            <a:avLst>
              <a:gd name="adj" fmla="val 3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8640" y="452628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ERR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4526280"/>
            <a:ext cx="429768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300" b="0" i="0">
                <a:solidFill>
                  <a:srgbClr val="1A2433"/>
                </a:solidFill>
                <a:latin typeface="Calibri"/>
              </a:rPr>
              <a:t>3 lectures consécutives échouées  →  mode erreur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120640"/>
            <a:ext cx="914400" cy="457200"/>
          </a:xfrm>
          <a:prstGeom prst="roundRect">
            <a:avLst>
              <a:gd name="adj" fmla="val 3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40" y="512064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Axxx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00200" y="5120640"/>
            <a:ext cx="429768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300" b="0" i="0">
                <a:solidFill>
                  <a:srgbClr val="1A2433"/>
                </a:solidFill>
                <a:latin typeface="Calibri"/>
              </a:rPr>
              <a:t>bouton bleu  →  ADC normalisée pendant 1,2 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715000"/>
            <a:ext cx="914400" cy="457200"/>
          </a:xfrm>
          <a:prstGeom prst="roundRect">
            <a:avLst>
              <a:gd name="adj" fmla="val 3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48640" y="571500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Buzzer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00200" y="5715000"/>
            <a:ext cx="429768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300" b="0" i="0">
                <a:solidFill>
                  <a:srgbClr val="1A2433"/>
                </a:solidFill>
                <a:latin typeface="Calibri"/>
              </a:rPr>
              <a:t>3 zones autour du nord : silence / lent / rapide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52044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E85D2F"/>
                </a:solidFill>
                <a:latin typeface="Calibri"/>
              </a:rPr>
              <a:t>INTERRUPTIONS — 2 SOURCES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0" y="393192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400800" y="3931920"/>
            <a:ext cx="73152" cy="914400"/>
          </a:xfrm>
          <a:prstGeom prst="rect">
            <a:avLst/>
          </a:prstGeom>
          <a:solidFill>
            <a:srgbClr val="2A9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629400" y="3977639"/>
            <a:ext cx="1828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E2A47"/>
                </a:solidFill>
                <a:latin typeface="Calibri"/>
              </a:rPr>
              <a:t>TIM6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4297680"/>
            <a:ext cx="51206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A2433"/>
                </a:solidFill>
                <a:latin typeface="Calibri"/>
              </a:rPr>
              <a:t>PSC=31999, ARR=999   →   IRQ ≈ 1 Hz   →   flag ADC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0" y="498348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400800" y="4983480"/>
            <a:ext cx="73152" cy="914400"/>
          </a:xfrm>
          <a:prstGeom prst="rect">
            <a:avLst/>
          </a:prstGeom>
          <a:solidFill>
            <a:srgbClr val="2A9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29400" y="5029200"/>
            <a:ext cx="1828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E2A47"/>
                </a:solidFill>
                <a:latin typeface="Calibri"/>
              </a:rPr>
              <a:t>EXTI15_10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29400" y="5349240"/>
            <a:ext cx="51206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A2433"/>
                </a:solidFill>
                <a:latin typeface="Calibri"/>
              </a:rPr>
              <a:t>PC13 front montant   →   anti-rebond 200 ms   →   flag bouton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00800" y="6080760"/>
            <a:ext cx="5486400" cy="411480"/>
          </a:xfrm>
          <a:prstGeom prst="roundRect">
            <a:avLst>
              <a:gd name="adj" fmla="val 4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400800" y="6080760"/>
            <a:ext cx="54864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 i="1">
                <a:solidFill>
                  <a:srgbClr val="FFFFFF"/>
                </a:solidFill>
                <a:latin typeface="Calibri"/>
              </a:rPr>
              <a:t>ISR pose un flag  ·  la boucle principale fait le travail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1">
                <a:solidFill>
                  <a:srgbClr val="5A6B7E"/>
                </a:solidFill>
                <a:latin typeface="Calibri"/>
              </a:rPr>
              <a:t>ProjectSTM32Bousole  |  S6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E85D2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05840"/>
            <a:ext cx="100584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Une boussole numérique cohérente, robuste et démonstrative.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3657600" cy="1828800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3657600" cy="73152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32004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 i="0">
                <a:solidFill>
                  <a:srgbClr val="E85D2F"/>
                </a:solidFill>
                <a:latin typeface="Calibri"/>
              </a:rPr>
              <a:t>Toutes les consignes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32004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 dirty="0">
                <a:solidFill>
                  <a:srgbClr val="E8F0F9"/>
                </a:solidFill>
                <a:latin typeface="Calibri"/>
              </a:rPr>
              <a:t>GPIO · TIMER · ADC · UART · SPI/I²C</a:t>
            </a:r>
          </a:p>
          <a:p>
            <a:pPr algn="l"/>
            <a:r>
              <a:rPr sz="1200" b="0" i="0" dirty="0">
                <a:solidFill>
                  <a:srgbClr val="E8F0F9"/>
                </a:solidFill>
                <a:latin typeface="Calibri"/>
              </a:rPr>
              <a:t>2 IRQ (TIM6 + EXTI) · 2 </a:t>
            </a:r>
            <a:r>
              <a:rPr sz="1200" b="0" i="0" dirty="0" err="1">
                <a:solidFill>
                  <a:srgbClr val="E8F0F9"/>
                </a:solidFill>
                <a:latin typeface="Calibri"/>
              </a:rPr>
              <a:t>capteurs</a:t>
            </a:r>
            <a:endParaRPr sz="1200" b="0" i="0" dirty="0">
              <a:solidFill>
                <a:srgbClr val="E8F0F9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325112" y="2286000"/>
            <a:ext cx="3657600" cy="1828800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25112" y="2286000"/>
            <a:ext cx="3657600" cy="73152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9432" y="2514600"/>
            <a:ext cx="32004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 i="0">
                <a:solidFill>
                  <a:srgbClr val="E85D2F"/>
                </a:solidFill>
                <a:latin typeface="Calibri"/>
              </a:rPr>
              <a:t>Interface multi-sortie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3108960"/>
            <a:ext cx="32004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E8F0F9"/>
                </a:solidFill>
                <a:latin typeface="Calibri"/>
              </a:rPr>
              <a:t>Afficheur 7-segments cohérent</a:t>
            </a:r>
          </a:p>
          <a:p>
            <a:pPr algn="l"/>
            <a:r>
              <a:rPr sz="1200" b="0" i="0">
                <a:solidFill>
                  <a:srgbClr val="E8F0F9"/>
                </a:solidFill>
                <a:latin typeface="Calibri"/>
              </a:rPr>
              <a:t>avec les LEDs et le buzzer.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4" y="2286000"/>
            <a:ext cx="3657600" cy="1828800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01584" y="2286000"/>
            <a:ext cx="3657600" cy="73152"/>
          </a:xfrm>
          <a:prstGeom prst="rect">
            <a:avLst/>
          </a:prstGeom>
          <a:solidFill>
            <a:srgbClr val="E85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75904" y="2514600"/>
            <a:ext cx="32004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 i="0">
                <a:solidFill>
                  <a:srgbClr val="E85D2F"/>
                </a:solidFill>
                <a:latin typeface="Calibri"/>
              </a:rPr>
              <a:t>Robustesse intégrée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5904" y="3108960"/>
            <a:ext cx="3200400" cy="406265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 dirty="0" err="1">
                <a:solidFill>
                  <a:srgbClr val="E8F0F9"/>
                </a:solidFill>
                <a:latin typeface="Calibri"/>
              </a:rPr>
              <a:t>Détection</a:t>
            </a:r>
            <a:r>
              <a:rPr sz="1200" b="0" i="0" dirty="0">
                <a:solidFill>
                  <a:srgbClr val="E8F0F9"/>
                </a:solidFill>
                <a:latin typeface="Calibri"/>
              </a:rPr>
              <a:t> TILT, mode ERR,</a:t>
            </a:r>
          </a:p>
          <a:p>
            <a:pPr algn="l"/>
            <a:r>
              <a:rPr sz="1200" b="0" i="0" dirty="0">
                <a:solidFill>
                  <a:srgbClr val="E8F0F9"/>
                </a:solidFill>
                <a:latin typeface="Calibri"/>
              </a:rPr>
              <a:t>trace UART.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4348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E85D2F"/>
                </a:solidFill>
                <a:latin typeface="Calibri"/>
              </a:rPr>
              <a:t>AMÉLIORATIONS POSSIBLES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46320"/>
            <a:ext cx="2743200" cy="457200"/>
          </a:xfrm>
          <a:prstGeom prst="roundRect">
            <a:avLst>
              <a:gd name="adj" fmla="val 4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846320"/>
            <a:ext cx="27432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 i="0">
                <a:solidFill>
                  <a:srgbClr val="E8F0F9"/>
                </a:solidFill>
                <a:latin typeface="Calibri"/>
              </a:rPr>
              <a:t>Calibration hard-iron / soft-iron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4846320"/>
            <a:ext cx="2743200" cy="457200"/>
          </a:xfrm>
          <a:prstGeom prst="roundRect">
            <a:avLst>
              <a:gd name="adj" fmla="val 4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29000" y="4846320"/>
            <a:ext cx="27432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 i="0">
                <a:solidFill>
                  <a:srgbClr val="E8F0F9"/>
                </a:solidFill>
                <a:latin typeface="Calibri"/>
              </a:rPr>
              <a:t>Compensation tilt avec roll / pitch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440680"/>
            <a:ext cx="2743200" cy="457200"/>
          </a:xfrm>
          <a:prstGeom prst="roundRect">
            <a:avLst>
              <a:gd name="adj" fmla="val 4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5440680"/>
            <a:ext cx="27432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 i="0">
                <a:solidFill>
                  <a:srgbClr val="E8F0F9"/>
                </a:solidFill>
                <a:latin typeface="Calibri"/>
              </a:rPr>
              <a:t>Sauvegarde en Flash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9000" y="5440680"/>
            <a:ext cx="2743200" cy="457200"/>
          </a:xfrm>
          <a:prstGeom prst="roundRect">
            <a:avLst>
              <a:gd name="adj" fmla="val 4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429000" y="5440680"/>
            <a:ext cx="27432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 i="0">
                <a:solidFill>
                  <a:srgbClr val="E8F0F9"/>
                </a:solidFill>
                <a:latin typeface="Calibri"/>
              </a:rPr>
              <a:t>Passage à un I²C matériel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E85D2F"/>
                </a:solidFill>
                <a:latin typeface="Calibri"/>
              </a:rPr>
              <a:t>PROJET PRÊT POUR DÉMONSTRATION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008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Merci de votre attention  ·  Wallner Lucas &amp; Debayle Isaïe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589</Words>
  <Application>Microsoft Macintosh PowerPoint</Application>
  <PresentationFormat>Grand écran</PresentationFormat>
  <Paragraphs>134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Lucas WALLNER</cp:lastModifiedBy>
  <cp:revision>3</cp:revision>
  <dcterms:created xsi:type="dcterms:W3CDTF">2013-01-27T09:14:16Z</dcterms:created>
  <dcterms:modified xsi:type="dcterms:W3CDTF">2026-06-01T09:50:56Z</dcterms:modified>
  <cp:category/>
</cp:coreProperties>
</file>