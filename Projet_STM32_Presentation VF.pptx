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mpas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3891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85D2F"/>
                </a:solidFill>
                <a:latin typeface="Calibri"/>
              </a:rPr>
              <a:t>PROJET S6  -  SYSTÈME EMBARQUÉ STM32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 dirty="0">
                <a:solidFill>
                  <a:srgbClr val="FFFFFF"/>
                </a:solidFill>
                <a:latin typeface="Calibri"/>
              </a:rPr>
              <a:t>ProjectSTM32Bousole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6858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0" i="0">
                <a:solidFill>
                  <a:srgbClr val="E8F0F9"/>
                </a:solidFill>
                <a:latin typeface="Calibri"/>
              </a:rPr>
              <a:t>Boussole numérique embarquée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E8F0F9"/>
                </a:solidFill>
                <a:latin typeface="Calibri"/>
              </a:rPr>
              <a:t>Carte   ·   NUCLEO-L152RE / STM32L152RET6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E8F0F9"/>
                </a:solidFill>
                <a:latin typeface="Calibri"/>
              </a:rPr>
              <a:t>Shield   ·   Yncrea2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640080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E8F0F9"/>
                </a:solidFill>
                <a:latin typeface="Calibri"/>
              </a:rPr>
              <a:t>Objectif   ·   </a:t>
            </a:r>
            <a:r>
              <a:rPr lang="fr-FR" sz="1600" b="0" i="0" dirty="0">
                <a:solidFill>
                  <a:srgbClr val="E8F0F9"/>
                </a:solidFill>
                <a:latin typeface="Calibri"/>
              </a:rPr>
              <a:t>Réaliser une boussole numérique simple et fiable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85D2F"/>
                </a:solidFill>
                <a:latin typeface="Calibri"/>
              </a:rPr>
              <a:t>AUTEURS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Wallner Lucas   ·   Debayle Isaïe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Présentation de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78992"/>
            <a:ext cx="548640" cy="457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943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1A2433"/>
                </a:solidFill>
                <a:latin typeface="Calibri"/>
              </a:rPr>
              <a:t>Une boussole numérique : transformer un champ magnétique en une direction lisible immédiatement, sur trois canaux complémentaires.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2834640" cy="1645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73152" cy="16459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Afficheur 7-segments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246888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Format N000 / E090 / S180 / W270 — lettre cardinale + angle 0–359°.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331720"/>
            <a:ext cx="2834640" cy="1645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2331720"/>
            <a:ext cx="73152" cy="16459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246888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Barre de LEDs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926080"/>
            <a:ext cx="246888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Indique le secteur de direction sur 8 zones de 45°.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51960"/>
            <a:ext cx="2834640" cy="1645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73152" cy="16459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Buzzer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246888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Bipe quand on s'approche du nord — feedback sonore progressif.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251960"/>
            <a:ext cx="2834640" cy="1645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0" y="4251960"/>
            <a:ext cx="73152" cy="16459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438912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Bouton bleu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846320"/>
            <a:ext cx="2468880" cy="960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Affiche temporairement la valeur ADC du potentiomètre (Axxx).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371600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AFFICHAGES POSSIBLES</a:t>
            </a:r>
          </a:p>
        </p:txBody>
      </p:sp>
      <p:pic>
        <p:nvPicPr>
          <p:cNvPr id="26" name="Picture 25" descr="display_n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2194560" cy="7315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81160" y="1947672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Cap — direction et angle</a:t>
            </a:r>
          </a:p>
        </p:txBody>
      </p:sp>
      <p:pic>
        <p:nvPicPr>
          <p:cNvPr id="28" name="Picture 27" descr="display_t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697480"/>
            <a:ext cx="2194560" cy="7315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81160" y="2862072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TILT — carte trop inclinée</a:t>
            </a:r>
          </a:p>
        </p:txBody>
      </p:sp>
      <p:pic>
        <p:nvPicPr>
          <p:cNvPr id="30" name="Picture 29" descr="display_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611880"/>
            <a:ext cx="2194560" cy="7315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81160" y="3776472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ERR — capteur indisponible</a:t>
            </a:r>
          </a:p>
        </p:txBody>
      </p:sp>
      <p:pic>
        <p:nvPicPr>
          <p:cNvPr id="32" name="Picture 31" descr="display_a4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526280"/>
            <a:ext cx="2194560" cy="7315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281160" y="4690872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Axxx — valeur ADC (bouton)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A6B7E"/>
                </a:solidFill>
                <a:latin typeface="Calibri"/>
              </a:rPr>
              <a:t>ProjectSTM32Bousole  |  S6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707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Solution technique argumentée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78992"/>
            <a:ext cx="548640" cy="457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COMPOSANTS DU SHIELD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73152" cy="713232"/>
          </a:xfrm>
          <a:prstGeom prst="rect">
            <a:avLst/>
          </a:prstGeom>
          <a:solidFill>
            <a:srgbClr val="1E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LIS2MDL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Magnétomètre 3 axes — mesure du champ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1E5B8C"/>
                </a:solidFill>
                <a:latin typeface="Calibri"/>
              </a:rPr>
              <a:t>I²C  0x1E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0604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73152" cy="713232"/>
          </a:xfrm>
          <a:prstGeom prst="rect">
            <a:avLst/>
          </a:prstGeom>
          <a:solidFill>
            <a:srgbClr val="1E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67004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LIS2DW12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Accéléromètre 3 axes — détection inclinaison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0720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1E5B8C"/>
                </a:solidFill>
                <a:latin typeface="Calibri"/>
              </a:rPr>
              <a:t>I²C  0x19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29000"/>
            <a:ext cx="73152" cy="713232"/>
          </a:xfrm>
          <a:prstGeom prst="rect">
            <a:avLst/>
          </a:prstGeom>
          <a:solidFill>
            <a:srgbClr val="1E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49300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MAX7219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9476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Driver afficheur 7-segments 4 digits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3016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1E5B8C"/>
                </a:solidFill>
                <a:latin typeface="Calibri"/>
              </a:rPr>
              <a:t>SPI logiciel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251960"/>
            <a:ext cx="73152" cy="713232"/>
          </a:xfrm>
          <a:prstGeom prst="rect">
            <a:avLst/>
          </a:prstGeom>
          <a:solidFill>
            <a:srgbClr val="1E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1596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8 LEDs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1772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Barre — secteur de direction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5312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1E5B8C"/>
                </a:solidFill>
                <a:latin typeface="Calibri"/>
              </a:rPr>
              <a:t>GPIO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074920"/>
            <a:ext cx="73152" cy="713232"/>
          </a:xfrm>
          <a:prstGeom prst="rect">
            <a:avLst/>
          </a:prstGeom>
          <a:solidFill>
            <a:srgbClr val="1E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13892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Buzzer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4068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Onde carrée par basculement GPIO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27608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1E5B8C"/>
                </a:solidFill>
                <a:latin typeface="Calibri"/>
              </a:rPr>
              <a:t>GPIO PC7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PÉRIPHÉRIQUES DU STM32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78308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1783080"/>
            <a:ext cx="73152" cy="713232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184708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0E2A47"/>
                </a:solidFill>
                <a:latin typeface="Calibri"/>
              </a:rPr>
              <a:t>TIM6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14884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A2433"/>
                </a:solidFill>
                <a:latin typeface="Calibri"/>
              </a:rPr>
              <a:t>Cadence </a:t>
            </a:r>
            <a:r>
              <a:rPr sz="1100" b="0" i="0" dirty="0" err="1">
                <a:solidFill>
                  <a:srgbClr val="1A2433"/>
                </a:solidFill>
                <a:latin typeface="Calibri"/>
              </a:rPr>
              <a:t>périodique</a:t>
            </a:r>
            <a:r>
              <a:rPr sz="1100" b="0" i="0" dirty="0">
                <a:solidFill>
                  <a:srgbClr val="1A2433"/>
                </a:solidFill>
                <a:latin typeface="Calibri"/>
              </a:rPr>
              <a:t>  →  lecture ADC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98424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A9DB4"/>
                </a:solidFill>
                <a:latin typeface="Calibri"/>
              </a:rPr>
              <a:t>IRQ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60604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2606040"/>
            <a:ext cx="73152" cy="713232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267004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EXTI15_10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297180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Bouton bleu PC13  +  anti-rebond 200 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80720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A9DB4"/>
                </a:solidFill>
                <a:latin typeface="Calibri"/>
              </a:rPr>
              <a:t>IRQ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42900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3429000"/>
            <a:ext cx="73152" cy="713232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349300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ADC1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379476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PA0 — potentiomètre (canal 0, 12 bits)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363016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A9DB4"/>
                </a:solidFill>
                <a:latin typeface="Calibri"/>
              </a:rPr>
              <a:t>REG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25196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0" y="4251960"/>
            <a:ext cx="73152" cy="713232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431596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USART2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461772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Trace printf 115 200 bauds vers ST-LINK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45312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A9DB4"/>
                </a:solidFill>
                <a:latin typeface="Calibri"/>
              </a:rPr>
              <a:t>HAL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5074920"/>
            <a:ext cx="5486400" cy="71323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0" y="5074920"/>
            <a:ext cx="73152" cy="713232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29400" y="5138928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E2A47"/>
                </a:solidFill>
                <a:latin typeface="Calibri"/>
              </a:rPr>
              <a:t>GPIO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5440680"/>
            <a:ext cx="4023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A2433"/>
                </a:solidFill>
                <a:latin typeface="Calibri"/>
              </a:rPr>
              <a:t>LEDs, buzzer, bus logiciels I²C et SPI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5276088"/>
            <a:ext cx="1417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A9DB4"/>
                </a:solidFill>
                <a:latin typeface="Calibri"/>
              </a:rPr>
              <a:t>HAL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7240" y="598932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Compass_UserHeading()  —  aligne la lettre, les degrés, les LEDs et le bip avec le segment bleu pour une lecture cohérente.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A6B7E"/>
                </a:solidFill>
                <a:latin typeface="Calibri"/>
              </a:rPr>
              <a:t>ProjectSTM32Bousole  |  S6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Défi &amp; problématique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78992"/>
            <a:ext cx="548640" cy="457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51560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1" i="1">
                <a:solidFill>
                  <a:srgbClr val="0E2A47"/>
                </a:solidFill>
                <a:latin typeface="Calibri"/>
              </a:rPr>
              <a:t>Comment fournir un cap fiable, lisible et réactif sur un Cortex-M3 à 32 MHz, sans FPU, avec des capteurs MEMS et toutes les contraintes du sujet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90088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Mesure brute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320040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Le LIS2MDL renvoie des entiers signés sur 3 axes ; il faut un angle 0–359° clair.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6974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5112" y="269748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53712" y="2971800"/>
            <a:ext cx="548640" cy="548640"/>
          </a:xfrm>
          <a:prstGeom prst="ellipse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297180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990088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Orientation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657600"/>
            <a:ext cx="320040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Capteur et afficheur ne pointent pas dans le même sens : double correction logicielle.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269748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01584" y="269748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30184" y="2971800"/>
            <a:ext cx="548640" cy="548640"/>
          </a:xfrm>
          <a:prstGeom prst="ellipse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0184" y="297180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990088"/>
            <a:ext cx="256032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E2A47"/>
                </a:solidFill>
                <a:latin typeface="Calibri"/>
              </a:rPr>
              <a:t>Fiabilité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657600"/>
            <a:ext cx="320040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Une boussole inclinée ment ; un capteur peut tomber en panne ; il faut gérer les deux.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CONTRAINTES À RESPECTER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32120"/>
            <a:ext cx="740664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532120"/>
            <a:ext cx="74066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GPIO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6464" y="5532120"/>
            <a:ext cx="845820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26464" y="5532120"/>
            <a:ext cx="8458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TIMER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09444" y="5532120"/>
            <a:ext cx="635508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09444" y="5532120"/>
            <a:ext cx="635508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ADC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82112" y="5532120"/>
            <a:ext cx="740664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82112" y="5532120"/>
            <a:ext cx="74066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59936" y="5532120"/>
            <a:ext cx="1266444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59936" y="5532120"/>
            <a:ext cx="126644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SPI / I²C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63540" y="5532120"/>
            <a:ext cx="845820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63540" y="5532120"/>
            <a:ext cx="8458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IRQ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553212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532120"/>
            <a:ext cx="1371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capteurs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A6B7E"/>
                </a:solidFill>
                <a:latin typeface="Calibri"/>
              </a:rPr>
              <a:t>ProjectSTM32Bousole  |  S6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 i="0">
                <a:solidFill>
                  <a:srgbClr val="0E2A47"/>
                </a:solidFill>
                <a:latin typeface="Calibri"/>
              </a:rPr>
              <a:t>Résolution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078992"/>
            <a:ext cx="548640" cy="4572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E85D2F"/>
                </a:solidFill>
                <a:latin typeface="Calibri"/>
              </a:rPr>
              <a:t>PIPELINE DE TRAITEMENT  ·  </a:t>
            </a:r>
            <a:r>
              <a:rPr sz="1200" b="1" i="0" dirty="0" err="1">
                <a:solidFill>
                  <a:srgbClr val="E85D2F"/>
                </a:solidFill>
                <a:latin typeface="Calibri"/>
              </a:rPr>
              <a:t>toutes</a:t>
            </a:r>
            <a:r>
              <a:rPr sz="1200" b="1" i="0" dirty="0">
                <a:solidFill>
                  <a:srgbClr val="E85D2F"/>
                </a:solidFill>
                <a:latin typeface="Calibri"/>
              </a:rPr>
              <a:t> les 150 </a:t>
            </a:r>
            <a:r>
              <a:rPr sz="1200" b="1" i="0" dirty="0" err="1">
                <a:solidFill>
                  <a:srgbClr val="E85D2F"/>
                </a:solidFill>
                <a:latin typeface="Calibri"/>
              </a:rPr>
              <a:t>ms</a:t>
            </a:r>
            <a:endParaRPr sz="1200" b="1" i="0" dirty="0">
              <a:solidFill>
                <a:srgbClr val="E85D2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57400" cy="4114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057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87452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LIS2MDL</a:t>
            </a:r>
          </a:p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Bx, By, Bz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10612" y="2446020"/>
            <a:ext cx="100584" cy="182880"/>
          </a:xfrm>
          <a:prstGeom prst="rightArrow">
            <a:avLst/>
          </a:prstGeom>
          <a:solidFill>
            <a:srgbClr val="E85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15768" y="182880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15768" y="1828800"/>
            <a:ext cx="2057400" cy="4114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15768" y="1828800"/>
            <a:ext cx="2057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CALCULER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331720"/>
            <a:ext cx="187452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atan2 entier</a:t>
            </a:r>
          </a:p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→ 0–359°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77740" y="2446020"/>
            <a:ext cx="100584" cy="182880"/>
          </a:xfrm>
          <a:prstGeom prst="rightArrow">
            <a:avLst/>
          </a:prstGeom>
          <a:solidFill>
            <a:srgbClr val="E85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82896" y="182880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82896" y="1828800"/>
            <a:ext cx="2057400" cy="4114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82896" y="1828800"/>
            <a:ext cx="2057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CORRIGER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2331720"/>
            <a:ext cx="187452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orientation</a:t>
            </a:r>
          </a:p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+ user-heading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944868" y="2446020"/>
            <a:ext cx="100584" cy="182880"/>
          </a:xfrm>
          <a:prstGeom prst="rightArrow">
            <a:avLst/>
          </a:prstGeom>
          <a:solidFill>
            <a:srgbClr val="E85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50024" y="182880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50024" y="1828800"/>
            <a:ext cx="2057400" cy="4114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0024" y="1828800"/>
            <a:ext cx="2057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AFFICHER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464" y="2331720"/>
            <a:ext cx="187452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MAX7219</a:t>
            </a:r>
          </a:p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LEDs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11996" y="2446020"/>
            <a:ext cx="100584" cy="182880"/>
          </a:xfrm>
          <a:prstGeom prst="rightArrow">
            <a:avLst/>
          </a:prstGeom>
          <a:solidFill>
            <a:srgbClr val="E85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17152" y="1828800"/>
            <a:ext cx="205740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17152" y="1828800"/>
            <a:ext cx="2057400" cy="4114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1828800"/>
            <a:ext cx="2057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ALERTER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331720"/>
            <a:ext cx="187452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Buzzer</a:t>
            </a:r>
          </a:p>
          <a:p>
            <a:pPr algn="ctr"/>
            <a:r>
              <a:rPr sz="1200" b="0" i="0">
                <a:solidFill>
                  <a:srgbClr val="1A2433"/>
                </a:solidFill>
                <a:latin typeface="Calibri"/>
              </a:rPr>
              <a:t>si nord proche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CAS PARTICULIERS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93192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931920"/>
            <a:ext cx="914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93192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|ax| ou |ay| &gt; seuil  →  mesure rejetée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52628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526280"/>
            <a:ext cx="914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ERR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52628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3 lectures consécutives échouées  →  mode erreur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2064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120640"/>
            <a:ext cx="914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Axxx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12064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bouton bleu  →  ADC normalisée pendant 1,2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71500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715000"/>
            <a:ext cx="914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Buzzer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715000"/>
            <a:ext cx="42976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1A2433"/>
                </a:solidFill>
                <a:latin typeface="Calibri"/>
              </a:rPr>
              <a:t>3 zones autour du nord : silence / lent / rapide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5204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INTERRUPTIONS — 2 SOURCES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9319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0" y="3931920"/>
            <a:ext cx="73152" cy="914400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9400" y="397763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TIM6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297680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PSC=31999, ARR=999   →   IRQ ≈ 1 Hz   →   flag ADC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0" y="4983480"/>
            <a:ext cx="73152" cy="914400"/>
          </a:xfrm>
          <a:prstGeom prst="rect">
            <a:avLst/>
          </a:prstGeom>
          <a:solidFill>
            <a:srgbClr val="2A9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9400" y="5029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Calibri"/>
              </a:rPr>
              <a:t>EXTI15_10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5349240"/>
            <a:ext cx="512064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1A2433"/>
                </a:solidFill>
                <a:latin typeface="Calibri"/>
              </a:rPr>
              <a:t>PC13 front montant   →   anti-rebond 200 ms   →   flag bouton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6080760"/>
            <a:ext cx="5486400" cy="41148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608076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1">
                <a:solidFill>
                  <a:srgbClr val="FFFFFF"/>
                </a:solidFill>
                <a:latin typeface="Calibri"/>
              </a:rPr>
              <a:t>ISR pose un flag  ·  la boucle principale fait le travail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1">
                <a:solidFill>
                  <a:srgbClr val="5A6B7E"/>
                </a:solidFill>
                <a:latin typeface="Calibri"/>
              </a:rPr>
              <a:t>ProjectSTM32Bousole  |  S6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E85D2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0584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Une boussole numérique cohérente, robuste et démonstrative.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E85D2F"/>
                </a:solidFill>
                <a:latin typeface="Calibri"/>
              </a:rPr>
              <a:t>Toutes les consignes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2004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E8F0F9"/>
                </a:solidFill>
                <a:latin typeface="Calibri"/>
              </a:rPr>
              <a:t>GPIO · TIMER · ADC · UART · SPI/I²C</a:t>
            </a:r>
          </a:p>
          <a:p>
            <a:pPr algn="l"/>
            <a:r>
              <a:rPr sz="1200" b="0" i="0" dirty="0">
                <a:solidFill>
                  <a:srgbClr val="E8F0F9"/>
                </a:solidFill>
                <a:latin typeface="Calibri"/>
              </a:rPr>
              <a:t>2 IRQ (TIM6 + EXTI) · 2 </a:t>
            </a:r>
            <a:r>
              <a:rPr sz="1200" b="0" i="0" dirty="0" err="1">
                <a:solidFill>
                  <a:srgbClr val="E8F0F9"/>
                </a:solidFill>
                <a:latin typeface="Calibri"/>
              </a:rPr>
              <a:t>capteurs</a:t>
            </a:r>
            <a:endParaRPr sz="1200" b="0" i="0" dirty="0">
              <a:solidFill>
                <a:srgbClr val="E8F0F9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25112" y="22860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5112" y="228600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251460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E85D2F"/>
                </a:solidFill>
                <a:latin typeface="Calibri"/>
              </a:rPr>
              <a:t>Interface multi-sortie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108960"/>
            <a:ext cx="32004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E8F0F9"/>
                </a:solidFill>
                <a:latin typeface="Calibri"/>
              </a:rPr>
              <a:t>Afficheur 7-segments cohérent</a:t>
            </a:r>
          </a:p>
          <a:p>
            <a:pPr algn="l"/>
            <a:r>
              <a:rPr sz="1200" b="0" i="0">
                <a:solidFill>
                  <a:srgbClr val="E8F0F9"/>
                </a:solidFill>
                <a:latin typeface="Calibri"/>
              </a:rPr>
              <a:t>avec les LEDs et le buzzer.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22860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4" y="2286000"/>
            <a:ext cx="3657600" cy="73152"/>
          </a:xfrm>
          <a:prstGeom prst="rect">
            <a:avLst/>
          </a:prstGeom>
          <a:solidFill>
            <a:srgbClr val="E85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2514600"/>
            <a:ext cx="3200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E85D2F"/>
                </a:solidFill>
                <a:latin typeface="Calibri"/>
              </a:rPr>
              <a:t>Robustesse intégrée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108960"/>
            <a:ext cx="32004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 err="1">
                <a:solidFill>
                  <a:srgbClr val="E8F0F9"/>
                </a:solidFill>
                <a:latin typeface="Calibri"/>
              </a:rPr>
              <a:t>Détection</a:t>
            </a:r>
            <a:r>
              <a:rPr sz="1200" b="0" i="0" dirty="0">
                <a:solidFill>
                  <a:srgbClr val="E8F0F9"/>
                </a:solidFill>
                <a:latin typeface="Calibri"/>
              </a:rPr>
              <a:t> TILT, mode ERR,</a:t>
            </a:r>
          </a:p>
          <a:p>
            <a:pPr algn="l"/>
            <a:r>
              <a:rPr sz="1200" b="0" i="0" dirty="0">
                <a:solidFill>
                  <a:srgbClr val="E8F0F9"/>
                </a:solidFill>
                <a:latin typeface="Calibri"/>
              </a:rPr>
              <a:t>trace UART.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E85D2F"/>
                </a:solidFill>
                <a:latin typeface="Calibri"/>
              </a:rPr>
              <a:t>AMÉLIORATIONS POSSIBLES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E8F0F9"/>
                </a:solidFill>
                <a:latin typeface="Calibri"/>
              </a:rPr>
              <a:t>Calibration hard-iron / soft-iron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84632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484632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E8F0F9"/>
                </a:solidFill>
                <a:latin typeface="Calibri"/>
              </a:rPr>
              <a:t>Compensation tilt avec roll / pitch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4068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E8F0F9"/>
                </a:solidFill>
                <a:latin typeface="Calibri"/>
              </a:rPr>
              <a:t>Sauvegarde en Flash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544068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5440680"/>
            <a:ext cx="2743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 i="0">
                <a:solidFill>
                  <a:srgbClr val="E8F0F9"/>
                </a:solidFill>
                <a:latin typeface="Calibri"/>
              </a:rPr>
              <a:t>Passage à un I²C matériel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85D2F"/>
                </a:solidFill>
                <a:latin typeface="Calibri"/>
              </a:rPr>
              <a:t>PROJET PRÊT POUR DÉMONSTRATION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Merci de votre attention  ·  Wallner Lucas &amp; Debayle Isaïe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591</Words>
  <Application>Microsoft Macintosh PowerPoint</Application>
  <PresentationFormat>Grand écran</PresentationFormat>
  <Paragraphs>134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Isaïe Debayle</cp:lastModifiedBy>
  <cp:revision>2</cp:revision>
  <dcterms:created xsi:type="dcterms:W3CDTF">2013-01-27T09:14:16Z</dcterms:created>
  <dcterms:modified xsi:type="dcterms:W3CDTF">2026-06-01T08:15:42Z</dcterms:modified>
  <cp:category/>
</cp:coreProperties>
</file>